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notesMasterIdLst>
    <p:notesMasterId r:id="rId10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开场 30 秒：这是一个"合同体检"工具——贴一份合同进来，AI 快速找出对你不利的条款，并用普通人能看懂的话解释。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痛点 30 秒：签合同的人往往最没有议价能力。右边三条不是编的，全部摘自我们项目里的示例合同。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解法 20 秒：不需要法律背景，不需要逐字读完——粘贴、体检、拿到人话报告，三步。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实测 60 秒：主 Demo 租房合同，AI 稳定识别 5 个风险、3 高 2 中。重点展开押金不退、高额违约金、房东随时进入这三条。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体检项 20 秒：14 类风险分类，按"钱、权、责、人"四组覆盖常见合同坑。分类体系冻结在 shared/rules/risk-taxonomy.json。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工程 30 秒：重点讲"AI 会失败，但演示不会"——空输入有提示、超时有兜底、降级有标识、注入有防护、密钥不出后端。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收尾 15 秒：核心价值一句话——让普通人在签合同前，花 30 秒贴进来，就能快速知道哪里可能吃亏。然后切到现场演示。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23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ring"/>
          <p:cNvSpPr/>
          <p:nvPr/>
        </p:nvSpPr>
        <p:spPr>
          <a:xfrm>
            <a:off x="9093200" y="1498600"/>
            <a:ext cx="2641600" cy="2641600"/>
          </a:xfrm>
          <a:prstGeom prst="ellipse">
            <a:avLst/>
          </a:prstGeom>
          <a:noFill/>
          <a:ln w="12700">
            <a:solidFill>
              <a:srgbClr val="2A5346"/>
            </a:solidFill>
          </a:ln>
        </p:spPr>
      </p:sp>
      <p:sp>
        <p:nvSpPr>
          <p:cNvPr id="3" name="deco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9842500" y="22479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1016000" y="1168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AI 合同风险扫描 · DEMO 路演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965200" y="1854200"/>
            <a:ext cx="7112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6800" b="1">
                <a:solidFill>
                  <a:srgbClr val="F7F3E8"/>
                </a:solidFill>
                <a:latin typeface="MiSans"/>
                <a:ea typeface="MiSans"/>
              </a:rPr>
              <a:t>合同体检</a:t>
            </a:r>
            <a:endParaRPr lang="en-US" sz="6800"/>
          </a:p>
        </p:txBody>
      </p:sp>
      <p:sp>
        <p:nvSpPr>
          <p:cNvPr id="6" name="title-line"/>
          <p:cNvSpPr/>
          <p:nvPr/>
        </p:nvSpPr>
        <p:spPr>
          <a:xfrm>
            <a:off x="1041400" y="3327400"/>
            <a:ext cx="1219200" cy="38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7" name="subtitle"/>
          <p:cNvSpPr txBox="1"/>
          <p:nvPr/>
        </p:nvSpPr>
        <p:spPr>
          <a:xfrm>
            <a:off x="1016000" y="3657600"/>
            <a:ext cx="787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F7F3E8"/>
                </a:solidFill>
                <a:latin typeface="MiSans"/>
                <a:ea typeface="MiSans"/>
              </a:rPr>
              <a:t>贴一份合同进来，30 秒看清</a:t>
            </a:r>
            <a:endParaRPr lang="en-US" sz="1900"/>
          </a:p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F7F3E8"/>
                </a:solidFill>
                <a:latin typeface="MiSans"/>
                <a:ea typeface="MiSans"/>
              </a:rPr>
              <a:t>哪些条款可能让你吃亏</a:t>
            </a:r>
            <a:endParaRPr lang="en-US" sz="1900"/>
          </a:p>
        </p:txBody>
      </p:sp>
      <p:sp>
        <p:nvSpPr>
          <p:cNvPr id="8" name="footer"/>
          <p:cNvSpPr txBox="1"/>
          <p:nvPr/>
        </p:nvSpPr>
        <p:spPr>
          <a:xfrm>
            <a:off x="1016000" y="6019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A8B8AF"/>
                </a:solidFill>
                <a:latin typeface="MiSans"/>
                <a:ea typeface="MiSans"/>
              </a:rPr>
              <a:t>五人并行开发 · 2 小时交付 · React + Express + Kimi API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5588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01 · 痛点</a:t>
            </a:r>
            <a:endParaRPr lang="en-US" sz="1200"/>
          </a:p>
        </p:txBody>
      </p:sp>
      <p:sp>
        <p:nvSpPr>
          <p:cNvPr id="3" name="statement"/>
          <p:cNvSpPr txBox="1"/>
          <p:nvPr/>
        </p:nvSpPr>
        <p:spPr>
          <a:xfrm>
            <a:off x="838200" y="10668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3300" b="1">
                <a:solidFill>
                  <a:srgbClr val="123B2F"/>
                </a:solidFill>
                <a:latin typeface="MiSans"/>
                <a:ea typeface="MiSans"/>
              </a:rPr>
              <a:t>签合同的人，</a:t>
            </a:r>
            <a:endParaRPr lang="en-US" sz="3300"/>
          </a:p>
          <a:p>
            <a:pPr algn="l">
              <a:lnSpc>
                <a:spcPct val="140000"/>
              </a:lnSpc>
            </a:pPr>
            <a:r>
              <a:rPr lang="en-US" sz="3300" b="1">
                <a:solidFill>
                  <a:srgbClr val="123B2F"/>
                </a:solidFill>
                <a:latin typeface="MiSans"/>
                <a:ea typeface="MiSans"/>
              </a:rPr>
              <a:t>往往是最没有</a:t>
            </a:r>
            <a:endParaRPr lang="en-US" sz="3300"/>
          </a:p>
          <a:p>
            <a:pPr algn="l">
              <a:lnSpc>
                <a:spcPct val="140000"/>
              </a:lnSpc>
            </a:pPr>
            <a:r>
              <a:rPr lang="en-US" sz="3300" b="1">
                <a:solidFill>
                  <a:srgbClr val="123B2F"/>
                </a:solidFill>
                <a:latin typeface="MiSans"/>
                <a:ea typeface="MiSans"/>
              </a:rPr>
              <a:t>议价能力的人</a:t>
            </a:r>
            <a:endParaRPr lang="en-US" sz="3300"/>
          </a:p>
        </p:txBody>
      </p:sp>
      <p:sp>
        <p:nvSpPr>
          <p:cNvPr id="4" name="stmt-line"/>
          <p:cNvSpPr/>
          <p:nvPr/>
        </p:nvSpPr>
        <p:spPr>
          <a:xfrm>
            <a:off x="914400" y="3175000"/>
            <a:ext cx="914400" cy="38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stmt-sub"/>
          <p:cNvSpPr txBox="1"/>
          <p:nvPr/>
        </p:nvSpPr>
        <p:spPr>
          <a:xfrm>
            <a:off x="889000" y="34544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400">
                <a:solidFill>
                  <a:srgbClr val="6B7A70"/>
                </a:solidFill>
                <a:latin typeface="MiSans"/>
                <a:ea typeface="MiSans"/>
              </a:rPr>
              <a:t>押金、违约金、竞业限制、自动续费……</a:t>
            </a:r>
            <a:endParaRPr lang="en-US" sz="1400"/>
          </a:p>
          <a:p>
            <a:pPr algn="l">
              <a:lnSpc>
                <a:spcPct val="160000"/>
              </a:lnSpc>
            </a:pPr>
            <a:r>
              <a:rPr lang="en-US" sz="1400">
                <a:solidFill>
                  <a:srgbClr val="6B7A70"/>
                </a:solidFill>
                <a:latin typeface="MiSans"/>
                <a:ea typeface="MiSans"/>
              </a:rPr>
              <a:t>不利条款总是写得像"行业惯例"。</a:t>
            </a:r>
            <a:endParaRPr lang="en-US" sz="1400"/>
          </a:p>
        </p:txBody>
      </p:sp>
      <p:sp>
        <p:nvSpPr>
          <p:cNvPr id="6" name="q1-bar"/>
          <p:cNvSpPr/>
          <p:nvPr/>
        </p:nvSpPr>
        <p:spPr>
          <a:xfrm>
            <a:off x="6858000" y="1117600"/>
            <a:ext cx="38100" cy="1041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7" name="q1-text"/>
          <p:cNvSpPr txBox="1"/>
          <p:nvPr/>
        </p:nvSpPr>
        <p:spPr>
          <a:xfrm>
            <a:off x="7086600" y="1117600"/>
            <a:ext cx="426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7B2D43"/>
                </a:solidFill>
                <a:latin typeface="MiSans"/>
                <a:ea typeface="MiSans"/>
              </a:rPr>
              <a:t>"无论任何原因退租，押金均不予退还。"</a:t>
            </a:r>
            <a:endParaRPr lang="en-US" sz="1500"/>
          </a:p>
        </p:txBody>
      </p:sp>
      <p:sp>
        <p:nvSpPr>
          <p:cNvPr id="8" name="q1-src"/>
          <p:cNvSpPr txBox="1"/>
          <p:nvPr/>
        </p:nvSpPr>
        <p:spPr>
          <a:xfrm>
            <a:off x="7086600" y="18796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—— 租房合同示例</a:t>
            </a:r>
            <a:endParaRPr lang="en-US" sz="1000"/>
          </a:p>
        </p:txBody>
      </p:sp>
      <p:sp>
        <p:nvSpPr>
          <p:cNvPr id="9" name="q2-bar"/>
          <p:cNvSpPr/>
          <p:nvPr/>
        </p:nvSpPr>
        <p:spPr>
          <a:xfrm>
            <a:off x="6858000" y="2641600"/>
            <a:ext cx="38100" cy="1041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0" name="q2-text"/>
          <p:cNvSpPr txBox="1"/>
          <p:nvPr/>
        </p:nvSpPr>
        <p:spPr>
          <a:xfrm>
            <a:off x="7086600" y="2641600"/>
            <a:ext cx="426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7B2D43"/>
                </a:solidFill>
                <a:latin typeface="MiSans"/>
                <a:ea typeface="MiSans"/>
              </a:rPr>
              <a:t>"离职后 3 年内不得入职竞争单位，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7B2D43"/>
                </a:solidFill>
                <a:latin typeface="MiSans"/>
                <a:ea typeface="MiSans"/>
              </a:rPr>
              <a:t>违约金 50 万元。"</a:t>
            </a:r>
            <a:endParaRPr lang="en-US" sz="1500"/>
          </a:p>
        </p:txBody>
      </p:sp>
      <p:sp>
        <p:nvSpPr>
          <p:cNvPr id="11" name="q2-src"/>
          <p:cNvSpPr txBox="1"/>
          <p:nvPr/>
        </p:nvSpPr>
        <p:spPr>
          <a:xfrm>
            <a:off x="7086600" y="34036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—— 劳动合同示例</a:t>
            </a:r>
            <a:endParaRPr lang="en-US" sz="1000"/>
          </a:p>
        </p:txBody>
      </p:sp>
      <p:sp>
        <p:nvSpPr>
          <p:cNvPr id="12" name="q3-bar"/>
          <p:cNvSpPr/>
          <p:nvPr/>
        </p:nvSpPr>
        <p:spPr>
          <a:xfrm>
            <a:off x="6858000" y="4165600"/>
            <a:ext cx="38100" cy="1041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3" name="q3-text"/>
          <p:cNvSpPr txBox="1"/>
          <p:nvPr/>
        </p:nvSpPr>
        <p:spPr>
          <a:xfrm>
            <a:off x="7086600" y="4165600"/>
            <a:ext cx="426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7B2D43"/>
                </a:solidFill>
                <a:latin typeface="MiSans"/>
                <a:ea typeface="MiSans"/>
              </a:rPr>
              <a:t>"到期前 24 小时自动扣取下期费用，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7B2D43"/>
                </a:solidFill>
                <a:latin typeface="MiSans"/>
                <a:ea typeface="MiSans"/>
              </a:rPr>
              <a:t>已扣费用不予退还。"</a:t>
            </a:r>
            <a:endParaRPr lang="en-US" sz="1500"/>
          </a:p>
        </p:txBody>
      </p:sp>
      <p:sp>
        <p:nvSpPr>
          <p:cNvPr id="14" name="q3-src"/>
          <p:cNvSpPr txBox="1"/>
          <p:nvPr/>
        </p:nvSpPr>
        <p:spPr>
          <a:xfrm>
            <a:off x="7086600" y="4927600"/>
            <a:ext cx="426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—— 用户协议示例</a:t>
            </a:r>
            <a:endParaRPr lang="en-US" sz="1000"/>
          </a:p>
        </p:txBody>
      </p:sp>
      <p:sp>
        <p:nvSpPr>
          <p:cNvPr id="15" name="footnote"/>
          <p:cNvSpPr txBox="1"/>
          <p:nvPr/>
        </p:nvSpPr>
        <p:spPr>
          <a:xfrm>
            <a:off x="889000" y="6248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以上条款均摘自本项目示例合同（assets/examples/），非虚构案例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23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5588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02 · 解法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63600" y="10414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F7F3E8"/>
                </a:solidFill>
                <a:latin typeface="MiSans"/>
                <a:ea typeface="MiSans"/>
              </a:rPr>
              <a:t>30 秒，给合同做一次体检</a:t>
            </a:r>
            <a:endParaRPr lang="en-US" sz="3800"/>
          </a:p>
        </p:txBody>
      </p:sp>
      <p:sp>
        <p:nvSpPr>
          <p:cNvPr id="4" name="subtitle"/>
          <p:cNvSpPr txBox="1"/>
          <p:nvPr/>
        </p:nvSpPr>
        <p:spPr>
          <a:xfrm>
            <a:off x="889000" y="18796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A8B8AF"/>
                </a:solidFill>
                <a:latin typeface="MiSans"/>
                <a:ea typeface="MiSans"/>
              </a:rPr>
              <a:t>不需要法律背景，不需要逐字读完，粘贴即体检</a:t>
            </a:r>
            <a:endParaRPr lang="en-US" sz="1400"/>
          </a:p>
        </p:txBody>
      </p:sp>
      <p:sp>
        <p:nvSpPr>
          <p:cNvPr id="5" name="flow-line"/>
          <p:cNvSpPr/>
          <p:nvPr/>
        </p:nvSpPr>
        <p:spPr>
          <a:xfrm>
            <a:off x="1143000" y="3327400"/>
            <a:ext cx="9906000" cy="12700"/>
          </a:xfrm>
          <a:prstGeom prst="rect">
            <a:avLst/>
          </a:prstGeom>
          <a:solidFill>
            <a:srgbClr val="2A5346"/>
          </a:solidFill>
          <a:ln>
            <a:noFill/>
          </a:ln>
        </p:spPr>
      </p:sp>
      <p:sp>
        <p:nvSpPr>
          <p:cNvPr id="6" name="s1-num"/>
          <p:cNvSpPr txBox="1"/>
          <p:nvPr/>
        </p:nvSpPr>
        <p:spPr>
          <a:xfrm>
            <a:off x="1143000" y="37592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B08D3E"/>
                </a:solidFill>
                <a:latin typeface="MiSans"/>
                <a:ea typeface="MiSans"/>
              </a:rPr>
              <a:t>01</a:t>
            </a:r>
            <a:endParaRPr lang="en-US" sz="4400"/>
          </a:p>
        </p:txBody>
      </p:sp>
      <p:sp>
        <p:nvSpPr>
          <p:cNvPr id="7" name="s1-label"/>
          <p:cNvSpPr txBox="1"/>
          <p:nvPr/>
        </p:nvSpPr>
        <p:spPr>
          <a:xfrm>
            <a:off x="1143000" y="45720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F7F3E8"/>
                </a:solidFill>
                <a:latin typeface="MiSans"/>
                <a:ea typeface="MiSans"/>
              </a:rPr>
              <a:t>粘贴合同文本</a:t>
            </a:r>
            <a:endParaRPr lang="en-US" sz="1700"/>
          </a:p>
        </p:txBody>
      </p:sp>
      <p:sp>
        <p:nvSpPr>
          <p:cNvPr id="8" name="s1-desc"/>
          <p:cNvSpPr txBox="1"/>
          <p:nvPr/>
        </p:nvSpPr>
        <p:spPr>
          <a:xfrm>
            <a:off x="1143000" y="4953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选择合同类型与地区，</a:t>
            </a:r>
            <a:endParaRPr lang="en-US" sz="1200"/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粘贴正文即可</a:t>
            </a:r>
            <a:endParaRPr lang="en-US" sz="1200"/>
          </a:p>
        </p:txBody>
      </p:sp>
      <p:sp>
        <p:nvSpPr>
          <p:cNvPr id="9" name="s2-num"/>
          <p:cNvSpPr txBox="1"/>
          <p:nvPr/>
        </p:nvSpPr>
        <p:spPr>
          <a:xfrm>
            <a:off x="4826000" y="37592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B08D3E"/>
                </a:solidFill>
                <a:latin typeface="MiSans"/>
                <a:ea typeface="MiSans"/>
              </a:rPr>
              <a:t>02</a:t>
            </a:r>
            <a:endParaRPr lang="en-US" sz="4400"/>
          </a:p>
        </p:txBody>
      </p:sp>
      <p:sp>
        <p:nvSpPr>
          <p:cNvPr id="10" name="s2-label"/>
          <p:cNvSpPr txBox="1"/>
          <p:nvPr/>
        </p:nvSpPr>
        <p:spPr>
          <a:xfrm>
            <a:off x="4826000" y="45720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F7F3E8"/>
                </a:solidFill>
                <a:latin typeface="MiSans"/>
                <a:ea typeface="MiSans"/>
              </a:rPr>
              <a:t>AI 逐条体检</a:t>
            </a:r>
            <a:endParaRPr lang="en-US" sz="1700"/>
          </a:p>
        </p:txBody>
      </p:sp>
      <p:sp>
        <p:nvSpPr>
          <p:cNvPr id="11" name="s2-desc"/>
          <p:cNvSpPr txBox="1"/>
          <p:nvPr/>
        </p:nvSpPr>
        <p:spPr>
          <a:xfrm>
            <a:off x="4826000" y="4953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对照 14 类风险分类，</a:t>
            </a:r>
            <a:endParaRPr lang="en-US" sz="1200"/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逐条扫描不利条款</a:t>
            </a:r>
            <a:endParaRPr lang="en-US" sz="1200"/>
          </a:p>
        </p:txBody>
      </p:sp>
      <p:sp>
        <p:nvSpPr>
          <p:cNvPr id="12" name="s3-num"/>
          <p:cNvSpPr txBox="1"/>
          <p:nvPr/>
        </p:nvSpPr>
        <p:spPr>
          <a:xfrm>
            <a:off x="8509000" y="37592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B08D3E"/>
                </a:solidFill>
                <a:latin typeface="MiSans"/>
                <a:ea typeface="MiSans"/>
              </a:rPr>
              <a:t>03</a:t>
            </a:r>
            <a:endParaRPr lang="en-US" sz="4400"/>
          </a:p>
        </p:txBody>
      </p:sp>
      <p:sp>
        <p:nvSpPr>
          <p:cNvPr id="13" name="s3-label"/>
          <p:cNvSpPr txBox="1"/>
          <p:nvPr/>
        </p:nvSpPr>
        <p:spPr>
          <a:xfrm>
            <a:off x="8509000" y="45720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F7F3E8"/>
                </a:solidFill>
                <a:latin typeface="MiSans"/>
                <a:ea typeface="MiSans"/>
              </a:rPr>
              <a:t>人话风险报告</a:t>
            </a:r>
            <a:endParaRPr lang="en-US" sz="1700"/>
          </a:p>
        </p:txBody>
      </p:sp>
      <p:sp>
        <p:nvSpPr>
          <p:cNvPr id="14" name="s3-desc"/>
          <p:cNvSpPr txBox="1"/>
          <p:nvPr/>
        </p:nvSpPr>
        <p:spPr>
          <a:xfrm>
            <a:off x="8509000" y="4953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原文摘录 + 人话解释</a:t>
            </a:r>
            <a:endParaRPr lang="en-US" sz="1200"/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A8B8AF"/>
                </a:solidFill>
                <a:latin typeface="MiSans"/>
                <a:ea typeface="MiSans"/>
              </a:rPr>
              <a:t>+ 修改建议</a:t>
            </a:r>
            <a:endParaRPr lang="en-US" sz="1200"/>
          </a:p>
        </p:txBody>
      </p:sp>
      <p:sp>
        <p:nvSpPr>
          <p:cNvPr id="15" name="footer"/>
          <p:cNvSpPr txBox="1"/>
          <p:nvPr/>
        </p:nvSpPr>
        <p:spPr>
          <a:xfrm>
            <a:off x="889000" y="60706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A8B8AF"/>
                </a:solidFill>
                <a:latin typeface="MiSans"/>
                <a:ea typeface="MiSans"/>
              </a:rPr>
              <a:t>支持：租房合同 · 劳动合同 / Offer · 用户协议 · 兼职协议 · 其他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5588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03 · 实测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63600" y="9144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123B2F"/>
                </a:solidFill>
                <a:latin typeface="MiSans"/>
                <a:ea typeface="MiSans"/>
              </a:rPr>
              <a:t>一份"看起来很正常"的租房合同</a:t>
            </a:r>
            <a:endParaRPr lang="en-US" sz="2800"/>
          </a:p>
        </p:txBody>
      </p:sp>
      <p:sp>
        <p:nvSpPr>
          <p:cNvPr id="4" name="big-num"/>
          <p:cNvSpPr txBox="1"/>
          <p:nvPr/>
        </p:nvSpPr>
        <p:spPr>
          <a:xfrm>
            <a:off x="838200" y="1905000"/>
            <a:ext cx="2540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600" b="1">
                <a:solidFill>
                  <a:srgbClr val="B08D3E"/>
                </a:solidFill>
                <a:latin typeface="MiSans"/>
                <a:ea typeface="MiSans"/>
              </a:rPr>
              <a:t>5</a:t>
            </a:r>
            <a:endParaRPr lang="en-US" sz="9600"/>
          </a:p>
        </p:txBody>
      </p:sp>
      <p:sp>
        <p:nvSpPr>
          <p:cNvPr id="5" name="big-num-label"/>
          <p:cNvSpPr txBox="1"/>
          <p:nvPr/>
        </p:nvSpPr>
        <p:spPr>
          <a:xfrm>
            <a:off x="965200" y="35052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23B2F"/>
                </a:solidFill>
                <a:latin typeface="MiSans"/>
                <a:ea typeface="MiSans"/>
              </a:rPr>
              <a:t>个风险条款被识别</a:t>
            </a:r>
            <a:endParaRPr lang="en-US" sz="1600"/>
          </a:p>
        </p:txBody>
      </p:sp>
      <p:sp>
        <p:nvSpPr>
          <p:cNvPr id="6" name="big-num-sub"/>
          <p:cNvSpPr txBox="1"/>
          <p:nvPr/>
        </p:nvSpPr>
        <p:spPr>
          <a:xfrm>
            <a:off x="965200" y="39624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7B2D43"/>
                </a:solidFill>
                <a:latin typeface="MiSans"/>
                <a:ea typeface="MiSans"/>
              </a:rPr>
              <a:t>3 高 · 2 中</a:t>
            </a:r>
            <a:endParaRPr lang="en-US" sz="1400"/>
          </a:p>
        </p:txBody>
      </p:sp>
      <p:sp>
        <p:nvSpPr>
          <p:cNvPr id="7" name="overall"/>
          <p:cNvSpPr txBox="1"/>
          <p:nvPr/>
        </p:nvSpPr>
        <p:spPr>
          <a:xfrm>
            <a:off x="965200" y="44704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23B2F"/>
                </a:solidFill>
                <a:latin typeface="MiSans"/>
                <a:ea typeface="MiSans"/>
              </a:rPr>
              <a:t>总体评级：</a:t>
            </a:r>
            <a:r>
              <a:rPr lang="en-US" sz="1400" b="1">
                <a:solidFill>
                  <a:srgbClr val="7B2D43"/>
                </a:solidFill>
                <a:latin typeface="MiSans"/>
                <a:ea typeface="MiSans"/>
              </a:rPr>
              <a:t>高（HIGH）</a:t>
            </a:r>
            <a:endParaRPr lang="en-US" sz="1400"/>
          </a:p>
        </p:txBody>
      </p:sp>
      <p:sp>
        <p:nvSpPr>
          <p:cNvPr id="8" name="divider"/>
          <p:cNvSpPr/>
          <p:nvPr/>
        </p:nvSpPr>
        <p:spPr>
          <a:xfrm>
            <a:off x="4191000" y="1879600"/>
            <a:ext cx="12700" cy="3810000"/>
          </a:xfrm>
          <a:prstGeom prst="rect">
            <a:avLst/>
          </a:prstGeom>
          <a:solidFill>
            <a:srgbClr val="D8D0BC"/>
          </a:solidFill>
          <a:ln>
            <a:noFill/>
          </a:ln>
        </p:spPr>
      </p:sp>
      <p:sp>
        <p:nvSpPr>
          <p:cNvPr id="9" name="r1-dot"/>
          <p:cNvSpPr/>
          <p:nvPr/>
        </p:nvSpPr>
        <p:spPr>
          <a:xfrm>
            <a:off x="4597400" y="1981200"/>
            <a:ext cx="101600" cy="101600"/>
          </a:xfrm>
          <a:prstGeom prst="rect">
            <a:avLst/>
          </a:prstGeom>
          <a:solidFill>
            <a:srgbClr val="7B2D43"/>
          </a:solidFill>
          <a:ln>
            <a:noFill/>
          </a:ln>
        </p:spPr>
      </p:sp>
      <p:sp>
        <p:nvSpPr>
          <p:cNvPr id="10" name="r1-title"/>
          <p:cNvSpPr txBox="1"/>
          <p:nvPr/>
        </p:nvSpPr>
        <p:spPr>
          <a:xfrm>
            <a:off x="4826000" y="1879600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23B2F"/>
                </a:solidFill>
                <a:latin typeface="MiSans"/>
                <a:ea typeface="MiSans"/>
              </a:rPr>
              <a:t>押金可能无条件不退</a:t>
            </a:r>
            <a:endParaRPr lang="en-US" sz="1600"/>
          </a:p>
        </p:txBody>
      </p:sp>
      <p:sp>
        <p:nvSpPr>
          <p:cNvPr id="11" name="r1-quote"/>
          <p:cNvSpPr txBox="1"/>
          <p:nvPr/>
        </p:nvSpPr>
        <p:spPr>
          <a:xfrm>
            <a:off x="4826000" y="2235200"/>
            <a:ext cx="647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6B7A70"/>
                </a:solidFill>
                <a:latin typeface="MiSans"/>
                <a:ea typeface="MiSans"/>
              </a:rPr>
              <a:t>原文："无论任何原因退租，押金均不予退还。"</a:t>
            </a:r>
            <a:endParaRPr lang="en-US" sz="1200"/>
          </a:p>
        </p:txBody>
      </p:sp>
      <p:sp>
        <p:nvSpPr>
          <p:cNvPr id="12" name="r1-rule"/>
          <p:cNvSpPr/>
          <p:nvPr/>
        </p:nvSpPr>
        <p:spPr>
          <a:xfrm>
            <a:off x="4597400" y="2946400"/>
            <a:ext cx="6705600" cy="12700"/>
          </a:xfrm>
          <a:prstGeom prst="rect">
            <a:avLst/>
          </a:prstGeom>
          <a:solidFill>
            <a:srgbClr val="D8D0BC"/>
          </a:solidFill>
          <a:ln>
            <a:noFill/>
          </a:ln>
        </p:spPr>
      </p:sp>
      <p:sp>
        <p:nvSpPr>
          <p:cNvPr id="13" name="r2-dot"/>
          <p:cNvSpPr/>
          <p:nvPr/>
        </p:nvSpPr>
        <p:spPr>
          <a:xfrm>
            <a:off x="4597400" y="3251200"/>
            <a:ext cx="101600" cy="101600"/>
          </a:xfrm>
          <a:prstGeom prst="rect">
            <a:avLst/>
          </a:prstGeom>
          <a:solidFill>
            <a:srgbClr val="7B2D43"/>
          </a:solidFill>
          <a:ln>
            <a:noFill/>
          </a:ln>
        </p:spPr>
      </p:sp>
      <p:sp>
        <p:nvSpPr>
          <p:cNvPr id="14" name="r2-title"/>
          <p:cNvSpPr txBox="1"/>
          <p:nvPr/>
        </p:nvSpPr>
        <p:spPr>
          <a:xfrm>
            <a:off x="4826000" y="3149600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23B2F"/>
                </a:solidFill>
                <a:latin typeface="MiSans"/>
                <a:ea typeface="MiSans"/>
              </a:rPr>
              <a:t>提前退租违约金过高</a:t>
            </a:r>
            <a:endParaRPr lang="en-US" sz="1600"/>
          </a:p>
        </p:txBody>
      </p:sp>
      <p:sp>
        <p:nvSpPr>
          <p:cNvPr id="15" name="r2-quote"/>
          <p:cNvSpPr txBox="1"/>
          <p:nvPr/>
        </p:nvSpPr>
        <p:spPr>
          <a:xfrm>
            <a:off x="4826000" y="3505200"/>
            <a:ext cx="647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6B7A70"/>
                </a:solidFill>
                <a:latin typeface="MiSans"/>
                <a:ea typeface="MiSans"/>
              </a:rPr>
              <a:t>原文："需支付剩余全部租期租金作为违约金，且押金不退。"</a:t>
            </a:r>
            <a:endParaRPr lang="en-US" sz="1200"/>
          </a:p>
        </p:txBody>
      </p:sp>
      <p:sp>
        <p:nvSpPr>
          <p:cNvPr id="16" name="r2-rule"/>
          <p:cNvSpPr/>
          <p:nvPr/>
        </p:nvSpPr>
        <p:spPr>
          <a:xfrm>
            <a:off x="4597400" y="4216400"/>
            <a:ext cx="6705600" cy="12700"/>
          </a:xfrm>
          <a:prstGeom prst="rect">
            <a:avLst/>
          </a:prstGeom>
          <a:solidFill>
            <a:srgbClr val="D8D0BC"/>
          </a:solidFill>
          <a:ln>
            <a:noFill/>
          </a:ln>
        </p:spPr>
      </p:sp>
      <p:sp>
        <p:nvSpPr>
          <p:cNvPr id="17" name="r3-dot"/>
          <p:cNvSpPr/>
          <p:nvPr/>
        </p:nvSpPr>
        <p:spPr>
          <a:xfrm>
            <a:off x="4597400" y="4521200"/>
            <a:ext cx="101600" cy="101600"/>
          </a:xfrm>
          <a:prstGeom prst="rect">
            <a:avLst/>
          </a:prstGeom>
          <a:solidFill>
            <a:srgbClr val="7B2D43"/>
          </a:solidFill>
          <a:ln>
            <a:noFill/>
          </a:ln>
        </p:spPr>
      </p:sp>
      <p:sp>
        <p:nvSpPr>
          <p:cNvPr id="18" name="r3-title"/>
          <p:cNvSpPr txBox="1"/>
          <p:nvPr/>
        </p:nvSpPr>
        <p:spPr>
          <a:xfrm>
            <a:off x="4826000" y="4419600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23B2F"/>
                </a:solidFill>
                <a:latin typeface="MiSans"/>
                <a:ea typeface="MiSans"/>
              </a:rPr>
              <a:t>房东可随时进入房屋</a:t>
            </a:r>
            <a:endParaRPr lang="en-US" sz="1600"/>
          </a:p>
        </p:txBody>
      </p:sp>
      <p:sp>
        <p:nvSpPr>
          <p:cNvPr id="19" name="r3-quote"/>
          <p:cNvSpPr txBox="1"/>
          <p:nvPr/>
        </p:nvSpPr>
        <p:spPr>
          <a:xfrm>
            <a:off x="4826000" y="4775200"/>
            <a:ext cx="647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6B7A70"/>
                </a:solidFill>
                <a:latin typeface="MiSans"/>
                <a:ea typeface="MiSans"/>
              </a:rPr>
              <a:t>原文："提前 2 小时通知后随时进入房屋进行检查、维修或带人看房。"</a:t>
            </a:r>
            <a:endParaRPr lang="en-US" sz="1200"/>
          </a:p>
        </p:txBody>
      </p:sp>
      <p:sp>
        <p:nvSpPr>
          <p:cNvPr id="20" name="footnote"/>
          <p:cNvSpPr txBox="1"/>
          <p:nvPr/>
        </p:nvSpPr>
        <p:spPr>
          <a:xfrm>
            <a:off x="889000" y="62484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实测数据：主 Demo 示例合同，AI 连续两次运行结构稳定（shared/api/response.example.json）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23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5588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04 · 体检项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63600" y="990600"/>
            <a:ext cx="711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7F3E8"/>
                </a:solidFill>
                <a:latin typeface="MiSans"/>
                <a:ea typeface="MiSans"/>
              </a:rPr>
              <a:t>14 类风险，一次扫完</a:t>
            </a:r>
            <a:endParaRPr lang="en-US" sz="3400"/>
          </a:p>
        </p:txBody>
      </p:sp>
      <p:sp>
        <p:nvSpPr>
          <p:cNvPr id="4" name="big-num"/>
          <p:cNvSpPr txBox="1"/>
          <p:nvPr/>
        </p:nvSpPr>
        <p:spPr>
          <a:xfrm>
            <a:off x="838200" y="2159000"/>
            <a:ext cx="2667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0" b="1">
                <a:solidFill>
                  <a:srgbClr val="B08D3E"/>
                </a:solidFill>
                <a:latin typeface="MiSans"/>
                <a:ea typeface="MiSans"/>
              </a:rPr>
              <a:t>14</a:t>
            </a:r>
            <a:endParaRPr lang="en-US" sz="10000"/>
          </a:p>
        </p:txBody>
      </p:sp>
      <p:sp>
        <p:nvSpPr>
          <p:cNvPr id="5" name="big-num-caption"/>
          <p:cNvSpPr txBox="1"/>
          <p:nvPr/>
        </p:nvSpPr>
        <p:spPr>
          <a:xfrm>
            <a:off x="965200" y="38354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A8B8AF"/>
                </a:solidFill>
                <a:latin typeface="MiSans"/>
                <a:ea typeface="MiSans"/>
              </a:rPr>
              <a:t>类风险分类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A8B8AF"/>
                </a:solidFill>
                <a:latin typeface="MiSans"/>
                <a:ea typeface="MiSans"/>
              </a:rPr>
              <a:t>4 组体检维度</a:t>
            </a:r>
            <a:endParaRPr lang="en-US" sz="1300"/>
          </a:p>
        </p:txBody>
      </p:sp>
      <p:sp>
        <p:nvSpPr>
          <p:cNvPr id="6" name="divider"/>
          <p:cNvSpPr/>
          <p:nvPr/>
        </p:nvSpPr>
        <p:spPr>
          <a:xfrm>
            <a:off x="3810000" y="2032000"/>
            <a:ext cx="12700" cy="3810000"/>
          </a:xfrm>
          <a:prstGeom prst="rect">
            <a:avLst/>
          </a:prstGeom>
          <a:solidFill>
            <a:srgbClr val="2A5346"/>
          </a:solidFill>
          <a:ln>
            <a:noFill/>
          </a:ln>
        </p:spPr>
      </p:sp>
      <p:sp>
        <p:nvSpPr>
          <p:cNvPr id="7" name="g1-label"/>
          <p:cNvSpPr txBox="1"/>
          <p:nvPr/>
        </p:nvSpPr>
        <p:spPr>
          <a:xfrm>
            <a:off x="4191000" y="19304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B08D3E"/>
                </a:solidFill>
                <a:latin typeface="MiSans"/>
                <a:ea typeface="MiSans"/>
              </a:rPr>
              <a:t>钱</a:t>
            </a:r>
            <a:endParaRPr lang="en-US" sz="1600"/>
          </a:p>
        </p:txBody>
      </p:sp>
      <p:sp>
        <p:nvSpPr>
          <p:cNvPr id="8" name="g1-items"/>
          <p:cNvSpPr txBox="1"/>
          <p:nvPr/>
        </p:nvSpPr>
        <p:spPr>
          <a:xfrm>
            <a:off x="4191000" y="2286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7F3E8"/>
                </a:solidFill>
                <a:latin typeface="MiSans"/>
                <a:ea typeface="MiSans"/>
              </a:rPr>
              <a:t>押金 · 违约金 · 赔偿 · 自动续期 / 扣费</a:t>
            </a:r>
            <a:endParaRPr lang="en-US" sz="1400"/>
          </a:p>
        </p:txBody>
      </p:sp>
      <p:sp>
        <p:nvSpPr>
          <p:cNvPr id="9" name="g1-rule"/>
          <p:cNvSpPr/>
          <p:nvPr/>
        </p:nvSpPr>
        <p:spPr>
          <a:xfrm>
            <a:off x="4191000" y="2844800"/>
            <a:ext cx="7112000" cy="12700"/>
          </a:xfrm>
          <a:prstGeom prst="rect">
            <a:avLst/>
          </a:prstGeom>
          <a:solidFill>
            <a:srgbClr val="2A5346"/>
          </a:solidFill>
          <a:ln>
            <a:noFill/>
          </a:ln>
        </p:spPr>
      </p:sp>
      <p:sp>
        <p:nvSpPr>
          <p:cNvPr id="10" name="g2-label"/>
          <p:cNvSpPr txBox="1"/>
          <p:nvPr/>
        </p:nvSpPr>
        <p:spPr>
          <a:xfrm>
            <a:off x="4191000" y="30734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B08D3E"/>
                </a:solidFill>
                <a:latin typeface="MiSans"/>
                <a:ea typeface="MiSans"/>
              </a:rPr>
              <a:t>权</a:t>
            </a:r>
            <a:endParaRPr lang="en-US" sz="1600"/>
          </a:p>
        </p:txBody>
      </p:sp>
      <p:sp>
        <p:nvSpPr>
          <p:cNvPr id="11" name="g2-items"/>
          <p:cNvSpPr txBox="1"/>
          <p:nvPr/>
        </p:nvSpPr>
        <p:spPr>
          <a:xfrm>
            <a:off x="4191000" y="3429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7F3E8"/>
                </a:solidFill>
                <a:latin typeface="MiSans"/>
                <a:ea typeface="MiSans"/>
              </a:rPr>
              <a:t>单方变更 · 单方解除 · 房屋 / 财产进入权</a:t>
            </a:r>
            <a:endParaRPr lang="en-US" sz="1400"/>
          </a:p>
        </p:txBody>
      </p:sp>
      <p:sp>
        <p:nvSpPr>
          <p:cNvPr id="12" name="g2-rule"/>
          <p:cNvSpPr/>
          <p:nvPr/>
        </p:nvSpPr>
        <p:spPr>
          <a:xfrm>
            <a:off x="4191000" y="3987800"/>
            <a:ext cx="7112000" cy="12700"/>
          </a:xfrm>
          <a:prstGeom prst="rect">
            <a:avLst/>
          </a:prstGeom>
          <a:solidFill>
            <a:srgbClr val="2A5346"/>
          </a:solidFill>
          <a:ln>
            <a:noFill/>
          </a:ln>
        </p:spPr>
      </p:sp>
      <p:sp>
        <p:nvSpPr>
          <p:cNvPr id="13" name="g3-label"/>
          <p:cNvSpPr txBox="1"/>
          <p:nvPr/>
        </p:nvSpPr>
        <p:spPr>
          <a:xfrm>
            <a:off x="4191000" y="42164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B08D3E"/>
                </a:solidFill>
                <a:latin typeface="MiSans"/>
                <a:ea typeface="MiSans"/>
              </a:rPr>
              <a:t>责</a:t>
            </a:r>
            <a:endParaRPr lang="en-US" sz="1600"/>
          </a:p>
        </p:txBody>
      </p:sp>
      <p:sp>
        <p:nvSpPr>
          <p:cNvPr id="14" name="g3-items"/>
          <p:cNvSpPr txBox="1"/>
          <p:nvPr/>
        </p:nvSpPr>
        <p:spPr>
          <a:xfrm>
            <a:off x="4191000" y="4572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7F3E8"/>
                </a:solidFill>
                <a:latin typeface="MiSans"/>
                <a:ea typeface="MiSans"/>
              </a:rPr>
              <a:t>过度免责 · 仲裁 · 管辖</a:t>
            </a:r>
            <a:endParaRPr lang="en-US" sz="1400"/>
          </a:p>
        </p:txBody>
      </p:sp>
      <p:sp>
        <p:nvSpPr>
          <p:cNvPr id="15" name="g3-rule"/>
          <p:cNvSpPr/>
          <p:nvPr/>
        </p:nvSpPr>
        <p:spPr>
          <a:xfrm>
            <a:off x="4191000" y="5130800"/>
            <a:ext cx="7112000" cy="12700"/>
          </a:xfrm>
          <a:prstGeom prst="rect">
            <a:avLst/>
          </a:prstGeom>
          <a:solidFill>
            <a:srgbClr val="2A5346"/>
          </a:solidFill>
          <a:ln>
            <a:noFill/>
          </a:ln>
        </p:spPr>
      </p:sp>
      <p:sp>
        <p:nvSpPr>
          <p:cNvPr id="16" name="g4-label"/>
          <p:cNvSpPr txBox="1"/>
          <p:nvPr/>
        </p:nvSpPr>
        <p:spPr>
          <a:xfrm>
            <a:off x="4191000" y="53594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B08D3E"/>
                </a:solidFill>
                <a:latin typeface="MiSans"/>
                <a:ea typeface="MiSans"/>
              </a:rPr>
              <a:t>人</a:t>
            </a:r>
            <a:endParaRPr lang="en-US" sz="1600"/>
          </a:p>
        </p:txBody>
      </p:sp>
      <p:sp>
        <p:nvSpPr>
          <p:cNvPr id="17" name="g4-items"/>
          <p:cNvSpPr txBox="1"/>
          <p:nvPr/>
        </p:nvSpPr>
        <p:spPr>
          <a:xfrm>
            <a:off x="4191000" y="5715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7F3E8"/>
                </a:solidFill>
                <a:latin typeface="MiSans"/>
                <a:ea typeface="MiSans"/>
              </a:rPr>
              <a:t>隐私 · 竞业限制 · 保密 · 其他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5588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 spc="300" kern="0">
                <a:solidFill>
                  <a:srgbClr val="B08D3E"/>
                </a:solidFill>
                <a:latin typeface="MiSans"/>
                <a:ea typeface="MiSans"/>
              </a:rPr>
              <a:t>05 · 工程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863600" y="9144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23B2F"/>
                </a:solidFill>
                <a:latin typeface="MiSans"/>
                <a:ea typeface="MiSans"/>
              </a:rPr>
              <a:t>AI 会失败，但演示不会</a:t>
            </a:r>
            <a:endParaRPr lang="en-US" sz="3000"/>
          </a:p>
        </p:txBody>
      </p:sp>
      <p:sp>
        <p:nvSpPr>
          <p:cNvPr id="4" name="c1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889000" y="1752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5" name="c1-text"/>
          <p:cNvSpPr txBox="1"/>
          <p:nvPr/>
        </p:nvSpPr>
        <p:spPr>
          <a:xfrm>
            <a:off x="1244600" y="16764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空输入 / 过短文本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：前端提示 + 后端 INVALID_INPUT 双重校验</a:t>
            </a:r>
            <a:endParaRPr lang="en-US" sz="1300"/>
          </a:p>
        </p:txBody>
      </p:sp>
      <p:sp>
        <p:nvSpPr>
          <p:cNvPr id="6" name="c2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889000" y="2489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7" name="c2-text"/>
          <p:cNvSpPr txBox="1"/>
          <p:nvPr/>
        </p:nvSpPr>
        <p:spPr>
          <a:xfrm>
            <a:off x="1244600" y="2413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AI 超时 25 秒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：返回 AI_TIMEOUT，不暴露内部堆栈</a:t>
            </a:r>
            <a:endParaRPr lang="en-US" sz="1300"/>
          </a:p>
        </p:txBody>
      </p:sp>
      <p:sp>
        <p:nvSpPr>
          <p:cNvPr id="8" name="c3-icon"/>
          <p:cNvSpPr/>
          <p:nvPr>
            <p:extLst>
              <p:ext uri="{F5677B7D-0D2A-4D9B-9A5C-6D8D7D0E5A5D}">
                <pptd:icon encoding="base64url">eyJpY29uTmFtZSI6ImZhczpjb2RlIn0</pptd:icon>
              </p:ext>
            </p:extLst>
          </p:nvPr>
        </p:nvSpPr>
        <p:spPr>
          <a:xfrm>
            <a:off x="889000" y="322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9" name="c3-text"/>
          <p:cNvSpPr txBox="1"/>
          <p:nvPr/>
        </p:nvSpPr>
        <p:spPr>
          <a:xfrm>
            <a:off x="1244600" y="3149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AI 返回非 JSON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：返回 AI_INVALID_RESPONSE，页面不白屏</a:t>
            </a:r>
            <a:endParaRPr lang="en-US" sz="1300"/>
          </a:p>
        </p:txBody>
      </p:sp>
      <p:sp>
        <p:nvSpPr>
          <p:cNvPr id="10" name="c4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889000" y="396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1" name="c4-text"/>
          <p:cNvSpPr txBox="1"/>
          <p:nvPr/>
        </p:nvSpPr>
        <p:spPr>
          <a:xfrm>
            <a:off x="1244600" y="38862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AI 不可用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：demo_fallback 明确标识，不伪装成实时分析</a:t>
            </a:r>
            <a:endParaRPr lang="en-US" sz="1300"/>
          </a:p>
        </p:txBody>
      </p:sp>
      <p:sp>
        <p:nvSpPr>
          <p:cNvPr id="12" name="c5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889000" y="469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3" name="c5-text"/>
          <p:cNvSpPr txBox="1"/>
          <p:nvPr/>
        </p:nvSpPr>
        <p:spPr>
          <a:xfrm>
            <a:off x="1244600" y="46228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提示注入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：合同正文永远只是"不可信数据"，实测未被欺骗</a:t>
            </a:r>
            <a:endParaRPr lang="en-US" sz="1300"/>
          </a:p>
        </p:txBody>
      </p:sp>
      <p:sp>
        <p:nvSpPr>
          <p:cNvPr id="14" name="c6-icon"/>
          <p:cNvSpPr/>
          <p:nvPr>
            <p:extLst>
              <p:ext uri="{F5677B7D-0D2A-4D9B-9A5C-6D8D7D0E5A5D}">
                <pptd:icon encoding="base64url">eyJpY29uTmFtZSI6ImZhczpsb2NrIn0</pptd:icon>
              </p:ext>
            </p:extLst>
          </p:nvPr>
        </p:nvSpPr>
        <p:spPr>
          <a:xfrm>
            <a:off x="889000" y="543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5" name="c6-text"/>
          <p:cNvSpPr txBox="1"/>
          <p:nvPr/>
        </p:nvSpPr>
        <p:spPr>
          <a:xfrm>
            <a:off x="1244600" y="53594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123B2F"/>
                </a:solidFill>
                <a:latin typeface="MiSans"/>
                <a:ea typeface="MiSans"/>
              </a:rPr>
              <a:t>密钥</a:t>
            </a:r>
            <a:r>
              <a:rPr lang="en-US" sz="1300">
                <a:solidFill>
                  <a:srgbClr val="123B2F"/>
                </a:solidFill>
                <a:latin typeface="MiSans"/>
                <a:ea typeface="MiSans"/>
              </a:rPr>
              <a:t>：只存在后端 .env，不进前端、Git、日志和截图</a:t>
            </a:r>
            <a:endParaRPr lang="en-US" sz="1300"/>
          </a:p>
        </p:txBody>
      </p:sp>
      <p:sp>
        <p:nvSpPr>
          <p:cNvPr id="16" name="arch-label"/>
          <p:cNvSpPr txBox="1"/>
          <p:nvPr/>
        </p:nvSpPr>
        <p:spPr>
          <a:xfrm>
            <a:off x="8382000" y="1625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B08D3E"/>
                </a:solidFill>
                <a:latin typeface="MiSans"/>
                <a:ea typeface="MiSans"/>
              </a:rPr>
              <a:t>架构一览</a:t>
            </a:r>
            <a:endParaRPr lang="en-US" sz="1200"/>
          </a:p>
        </p:txBody>
      </p:sp>
      <p:sp>
        <p:nvSpPr>
          <p:cNvPr id="17" name="arch-b1"/>
          <p:cNvSpPr/>
          <p:nvPr/>
        </p:nvSpPr>
        <p:spPr>
          <a:xfrm>
            <a:off x="8382000" y="1981200"/>
            <a:ext cx="3048000" cy="533400"/>
          </a:xfrm>
          <a:prstGeom prst="rect">
            <a:avLst/>
          </a:prstGeom>
          <a:noFill/>
          <a:ln w="12700">
            <a:solidFill>
              <a:srgbClr val="123B2F"/>
            </a:solidFill>
          </a:ln>
        </p:spPr>
      </p:sp>
      <p:sp>
        <p:nvSpPr>
          <p:cNvPr id="18" name="arch-t1"/>
          <p:cNvSpPr txBox="1"/>
          <p:nvPr/>
        </p:nvSpPr>
        <p:spPr>
          <a:xfrm>
            <a:off x="8382000" y="19812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123B2F"/>
                </a:solidFill>
                <a:latin typeface="MiSans"/>
                <a:ea typeface="MiSans"/>
              </a:rPr>
              <a:t>React · Vite · Tailwind</a:t>
            </a:r>
            <a:endParaRPr lang="en-US" sz="1200"/>
          </a:p>
        </p:txBody>
      </p:sp>
      <p:sp>
        <p:nvSpPr>
          <p:cNvPr id="19" name="arch-a1"/>
          <p:cNvSpPr/>
          <p:nvPr>
            <p:extLst>
              <p:ext uri="{F5677B7D-0D2A-4D9B-9A5C-6D8D7D0E5A5D}">
                <pptd:line encoding="base64url">eyJjdXJ2ZSI6InJvdW5kIiwicG9pbnRzIjoiMSwwIDEsMjIiLCJ2aWV3Qm94IjpbMiwyMl19</pptd:line>
              </p:ext>
            </p:extLst>
          </p:nvPr>
        </p:nvSpPr>
        <p:spPr>
          <a:xfrm>
            <a:off x="9893300" y="25146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B08D3E"/>
            </a:solidFill>
            <a:round/>
            <a:tailEnd type="arrow"/>
          </a:ln>
        </p:spPr>
      </p:sp>
      <p:sp>
        <p:nvSpPr>
          <p:cNvPr id="20" name="arch-b2"/>
          <p:cNvSpPr/>
          <p:nvPr/>
        </p:nvSpPr>
        <p:spPr>
          <a:xfrm>
            <a:off x="8382000" y="2794000"/>
            <a:ext cx="3048000" cy="533400"/>
          </a:xfrm>
          <a:prstGeom prst="rect">
            <a:avLst/>
          </a:prstGeom>
          <a:noFill/>
          <a:ln w="12700">
            <a:solidFill>
              <a:srgbClr val="123B2F"/>
            </a:solidFill>
          </a:ln>
        </p:spPr>
      </p:sp>
      <p:sp>
        <p:nvSpPr>
          <p:cNvPr id="21" name="arch-t2"/>
          <p:cNvSpPr txBox="1"/>
          <p:nvPr/>
        </p:nvSpPr>
        <p:spPr>
          <a:xfrm>
            <a:off x="8382000" y="27940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123B2F"/>
                </a:solidFill>
                <a:latin typeface="MiSans"/>
                <a:ea typeface="MiSans"/>
              </a:rPr>
              <a:t>POST /analyze 契约冻结</a:t>
            </a:r>
            <a:endParaRPr lang="en-US" sz="1200"/>
          </a:p>
        </p:txBody>
      </p:sp>
      <p:sp>
        <p:nvSpPr>
          <p:cNvPr id="22" name="arch-a2"/>
          <p:cNvSpPr/>
          <p:nvPr>
            <p:extLst>
              <p:ext uri="{F5677B7D-0D2A-4D9B-9A5C-6D8D7D0E5A5D}">
                <pptd:line encoding="base64url">eyJjdXJ2ZSI6InJvdW5kIiwicG9pbnRzIjoiMSwwIDEsMjIiLCJ2aWV3Qm94IjpbMiwyMl19</pptd:line>
              </p:ext>
            </p:extLst>
          </p:nvPr>
        </p:nvSpPr>
        <p:spPr>
          <a:xfrm>
            <a:off x="9893300" y="33274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B08D3E"/>
            </a:solidFill>
            <a:round/>
            <a:tailEnd type="arrow"/>
          </a:ln>
        </p:spPr>
      </p:sp>
      <p:sp>
        <p:nvSpPr>
          <p:cNvPr id="23" name="arch-b3"/>
          <p:cNvSpPr/>
          <p:nvPr/>
        </p:nvSpPr>
        <p:spPr>
          <a:xfrm>
            <a:off x="8382000" y="3606800"/>
            <a:ext cx="3048000" cy="533400"/>
          </a:xfrm>
          <a:prstGeom prst="rect">
            <a:avLst/>
          </a:prstGeom>
          <a:noFill/>
          <a:ln w="12700">
            <a:solidFill>
              <a:srgbClr val="123B2F"/>
            </a:solidFill>
          </a:ln>
        </p:spPr>
      </p:sp>
      <p:sp>
        <p:nvSpPr>
          <p:cNvPr id="24" name="arch-t3"/>
          <p:cNvSpPr txBox="1"/>
          <p:nvPr/>
        </p:nvSpPr>
        <p:spPr>
          <a:xfrm>
            <a:off x="8382000" y="3606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123B2F"/>
                </a:solidFill>
                <a:latin typeface="MiSans"/>
                <a:ea typeface="MiSans"/>
              </a:rPr>
              <a:t>Express 校验 · 标准化</a:t>
            </a:r>
            <a:endParaRPr lang="en-US" sz="1200"/>
          </a:p>
        </p:txBody>
      </p:sp>
      <p:sp>
        <p:nvSpPr>
          <p:cNvPr id="25" name="arch-a3"/>
          <p:cNvSpPr/>
          <p:nvPr>
            <p:extLst>
              <p:ext uri="{F5677B7D-0D2A-4D9B-9A5C-6D8D7D0E5A5D}">
                <pptd:line encoding="base64url">eyJjdXJ2ZSI6InJvdW5kIiwicG9pbnRzIjoiMSwwIDEsMjIiLCJ2aWV3Qm94IjpbMiwyMl19</pptd:line>
              </p:ext>
            </p:extLst>
          </p:nvPr>
        </p:nvSpPr>
        <p:spPr>
          <a:xfrm>
            <a:off x="9893300" y="41402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2700" cap="rnd">
            <a:solidFill>
              <a:srgbClr val="B08D3E"/>
            </a:solidFill>
            <a:round/>
            <a:tailEnd type="arrow"/>
          </a:ln>
        </p:spPr>
      </p:sp>
      <p:sp>
        <p:nvSpPr>
          <p:cNvPr id="26" name="arch-b4"/>
          <p:cNvSpPr/>
          <p:nvPr/>
        </p:nvSpPr>
        <p:spPr>
          <a:xfrm>
            <a:off x="8382000" y="4419600"/>
            <a:ext cx="3048000" cy="533400"/>
          </a:xfrm>
          <a:prstGeom prst="rect">
            <a:avLst/>
          </a:prstGeom>
          <a:noFill/>
          <a:ln w="12700">
            <a:solidFill>
              <a:srgbClr val="123B2F"/>
            </a:solidFill>
          </a:ln>
        </p:spPr>
      </p:sp>
      <p:sp>
        <p:nvSpPr>
          <p:cNvPr id="27" name="arch-t4"/>
          <p:cNvSpPr txBox="1"/>
          <p:nvPr/>
        </p:nvSpPr>
        <p:spPr>
          <a:xfrm>
            <a:off x="8382000" y="44196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123B2F"/>
                </a:solidFill>
                <a:latin typeface="MiSans"/>
                <a:ea typeface="MiSans"/>
              </a:rPr>
              <a:t>OpenAI 兼容 API（Kimi）</a:t>
            </a:r>
            <a:endParaRPr lang="en-US" sz="1200"/>
          </a:p>
        </p:txBody>
      </p:sp>
      <p:sp>
        <p:nvSpPr>
          <p:cNvPr id="28" name="arch-note"/>
          <p:cNvSpPr txBox="1"/>
          <p:nvPr/>
        </p:nvSpPr>
        <p:spPr>
          <a:xfrm>
            <a:off x="8382000" y="52070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shared/api/analyze.schema.json</a:t>
            </a:r>
            <a:endParaRPr lang="en-US" sz="1000"/>
          </a:p>
          <a:p>
            <a:pPr algn="l">
              <a:lnSpc>
                <a:spcPct val="150000"/>
              </a:lnSpc>
            </a:pPr>
            <a:r>
              <a:rPr lang="en-US" sz="1000">
                <a:solidFill>
                  <a:srgbClr val="6B7A70"/>
                </a:solidFill>
                <a:latin typeface="MiSans"/>
                <a:ea typeface="MiSans"/>
              </a:rPr>
              <a:t>请求 / 响应 / 错误码全部冻结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23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icon"/>
          <p:cNvSpPr/>
          <p:nvPr>
            <p:extLst>
              <p:ext uri="{F5677B7D-0D2A-4D9B-9A5C-6D8D7D0E5A5D}">
                <pptd:icon encoding="base64url">eyJpY29uTmFtZSI6ImZhczpmaWxlLXNpZ25hdHVyZSJ9</pptd:icon>
              </p:ext>
            </p:extLst>
          </p:nvPr>
        </p:nvSpPr>
        <p:spPr>
          <a:xfrm>
            <a:off x="10134600" y="16256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64"/>
                </a:moveTo>
                <a:cubicBezTo>
                  <a:pt x="64" y="29"/>
                  <a:pt x="93" y="0"/>
                  <a:pt x="128" y="0"/>
                </a:cubicBezTo>
                <a:lnTo>
                  <a:pt x="278" y="0"/>
                </a:lnTo>
                <a:cubicBezTo>
                  <a:pt x="295" y="0"/>
                  <a:pt x="311" y="7"/>
                  <a:pt x="323" y="19"/>
                </a:cubicBezTo>
                <a:lnTo>
                  <a:pt x="429" y="125"/>
                </a:lnTo>
                <a:cubicBezTo>
                  <a:pt x="441" y="137"/>
                  <a:pt x="448" y="154"/>
                  <a:pt x="448" y="171"/>
                </a:cubicBezTo>
                <a:lnTo>
                  <a:pt x="448" y="268"/>
                </a:lnTo>
                <a:lnTo>
                  <a:pt x="316" y="400"/>
                </a:lnTo>
                <a:lnTo>
                  <a:pt x="274" y="400"/>
                </a:lnTo>
                <a:lnTo>
                  <a:pt x="258" y="347"/>
                </a:lnTo>
                <a:cubicBezTo>
                  <a:pt x="253" y="331"/>
                  <a:pt x="239" y="320"/>
                  <a:pt x="222" y="320"/>
                </a:cubicBezTo>
                <a:cubicBezTo>
                  <a:pt x="211" y="320"/>
                  <a:pt x="200" y="325"/>
                  <a:pt x="193" y="334"/>
                </a:cubicBezTo>
                <a:lnTo>
                  <a:pt x="133" y="409"/>
                </a:lnTo>
                <a:cubicBezTo>
                  <a:pt x="125" y="419"/>
                  <a:pt x="127" y="435"/>
                  <a:pt x="137" y="443"/>
                </a:cubicBezTo>
                <a:cubicBezTo>
                  <a:pt x="147" y="451"/>
                  <a:pt x="163" y="449"/>
                  <a:pt x="171" y="439"/>
                </a:cubicBezTo>
                <a:lnTo>
                  <a:pt x="218" y="380"/>
                </a:lnTo>
                <a:lnTo>
                  <a:pt x="233" y="431"/>
                </a:lnTo>
                <a:cubicBezTo>
                  <a:pt x="236" y="441"/>
                  <a:pt x="245" y="448"/>
                  <a:pt x="256" y="448"/>
                </a:cubicBezTo>
                <a:lnTo>
                  <a:pt x="288" y="448"/>
                </a:lnTo>
                <a:cubicBezTo>
                  <a:pt x="287" y="451"/>
                  <a:pt x="286" y="454"/>
                  <a:pt x="285" y="457"/>
                </a:cubicBezTo>
                <a:lnTo>
                  <a:pt x="274" y="512"/>
                </a:lnTo>
                <a:lnTo>
                  <a:pt x="128" y="512"/>
                </a:lnTo>
                <a:cubicBezTo>
                  <a:pt x="93" y="512"/>
                  <a:pt x="64" y="483"/>
                  <a:pt x="64" y="448"/>
                </a:cubicBezTo>
                <a:lnTo>
                  <a:pt x="64" y="64"/>
                </a:lnTo>
                <a:close/>
                <a:moveTo>
                  <a:pt x="272" y="59"/>
                </a:moveTo>
                <a:lnTo>
                  <a:pt x="272" y="152"/>
                </a:lnTo>
                <a:cubicBezTo>
                  <a:pt x="272" y="165"/>
                  <a:pt x="283" y="176"/>
                  <a:pt x="296" y="176"/>
                </a:cubicBezTo>
                <a:lnTo>
                  <a:pt x="390" y="176"/>
                </a:lnTo>
                <a:lnTo>
                  <a:pt x="272" y="59"/>
                </a:lnTo>
                <a:close/>
                <a:moveTo>
                  <a:pt x="332" y="467"/>
                </a:moveTo>
                <a:cubicBezTo>
                  <a:pt x="335" y="455"/>
                  <a:pt x="341" y="443"/>
                  <a:pt x="350" y="434"/>
                </a:cubicBezTo>
                <a:lnTo>
                  <a:pt x="469" y="315"/>
                </a:lnTo>
                <a:lnTo>
                  <a:pt x="549" y="395"/>
                </a:lnTo>
                <a:lnTo>
                  <a:pt x="430" y="514"/>
                </a:lnTo>
                <a:cubicBezTo>
                  <a:pt x="421" y="523"/>
                  <a:pt x="410" y="529"/>
                  <a:pt x="397" y="532"/>
                </a:cubicBezTo>
                <a:lnTo>
                  <a:pt x="338" y="544"/>
                </a:lnTo>
                <a:cubicBezTo>
                  <a:pt x="337" y="544"/>
                  <a:pt x="336" y="544"/>
                  <a:pt x="335" y="544"/>
                </a:cubicBezTo>
                <a:cubicBezTo>
                  <a:pt x="327" y="544"/>
                  <a:pt x="320" y="537"/>
                  <a:pt x="320" y="529"/>
                </a:cubicBezTo>
                <a:cubicBezTo>
                  <a:pt x="320" y="528"/>
                  <a:pt x="320" y="527"/>
                  <a:pt x="320" y="526"/>
                </a:cubicBezTo>
                <a:lnTo>
                  <a:pt x="332" y="467"/>
                </a:lnTo>
                <a:close/>
                <a:moveTo>
                  <a:pt x="600" y="344"/>
                </a:moveTo>
                <a:lnTo>
                  <a:pt x="571" y="373"/>
                </a:lnTo>
                <a:lnTo>
                  <a:pt x="491" y="293"/>
                </a:lnTo>
                <a:lnTo>
                  <a:pt x="520" y="264"/>
                </a:lnTo>
                <a:cubicBezTo>
                  <a:pt x="542" y="242"/>
                  <a:pt x="578" y="242"/>
                  <a:pt x="600" y="264"/>
                </a:cubicBezTo>
                <a:cubicBezTo>
                  <a:pt x="622" y="286"/>
                  <a:pt x="622" y="322"/>
                  <a:pt x="600" y="344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3" name="manifesto"/>
          <p:cNvSpPr txBox="1"/>
          <p:nvPr/>
        </p:nvSpPr>
        <p:spPr>
          <a:xfrm>
            <a:off x="990600" y="1905000"/>
            <a:ext cx="8636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4000" b="1">
                <a:solidFill>
                  <a:srgbClr val="F7F3E8"/>
                </a:solidFill>
                <a:latin typeface="MiSans"/>
                <a:ea typeface="MiSans"/>
              </a:rPr>
              <a:t>签字之前，</a:t>
            </a:r>
            <a:endParaRPr lang="en-US" sz="4000"/>
          </a:p>
          <a:p>
            <a:pPr algn="l">
              <a:lnSpc>
                <a:spcPct val="145000"/>
              </a:lnSpc>
            </a:pPr>
            <a:r>
              <a:rPr lang="en-US" sz="4000" b="1">
                <a:solidFill>
                  <a:srgbClr val="F7F3E8"/>
                </a:solidFill>
                <a:latin typeface="MiSans"/>
                <a:ea typeface="MiSans"/>
              </a:rPr>
              <a:t>先花 30 秒知道哪里可能吃亏。</a:t>
            </a:r>
            <a:endParaRPr lang="en-US" sz="4000"/>
          </a:p>
        </p:txBody>
      </p:sp>
      <p:sp>
        <p:nvSpPr>
          <p:cNvPr id="4" name="m-line"/>
          <p:cNvSpPr/>
          <p:nvPr/>
        </p:nvSpPr>
        <p:spPr>
          <a:xfrm>
            <a:off x="1066800" y="4013200"/>
            <a:ext cx="1219200" cy="38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demo-cue"/>
          <p:cNvSpPr txBox="1"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B08D3E"/>
                </a:solidFill>
                <a:latin typeface="MiSans"/>
                <a:ea typeface="MiSans"/>
              </a:rPr>
              <a:t>接下来：现场演示 →</a:t>
            </a:r>
            <a:endParaRPr lang="en-US" sz="1600"/>
          </a:p>
        </p:txBody>
      </p:sp>
      <p:sp>
        <p:nvSpPr>
          <p:cNvPr id="6" name="disclaimer"/>
          <p:cNvSpPr txBox="1"/>
          <p:nvPr/>
        </p:nvSpPr>
        <p:spPr>
          <a:xfrm>
            <a:off x="1016000" y="60452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000">
                <a:solidFill>
                  <a:srgbClr val="A8B8AF"/>
                </a:solidFill>
                <a:latin typeface="MiSans"/>
                <a:ea typeface="MiSans"/>
              </a:rPr>
              <a:t>本工具结果由 AI 生成，仅用于风险提示，不构成法律意见；重要合同请咨询专业律师。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7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